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B70F71-3FBE-425F-AC74-E05D409856DB}" v="1" dt="2026-06-06T02:03:59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8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vi Ojha" userId="be829ea4d4a0fdd8" providerId="LiveId" clId="{CF44F7A8-EED8-47FF-A859-886B402A6D3C}"/>
    <pc:docChg chg="modSld">
      <pc:chgData name="Sanvi Ojha" userId="be829ea4d4a0fdd8" providerId="LiveId" clId="{CF44F7A8-EED8-47FF-A859-886B402A6D3C}" dt="2026-06-06T02:05:04.748" v="18" actId="14100"/>
      <pc:docMkLst>
        <pc:docMk/>
      </pc:docMkLst>
      <pc:sldChg chg="addSp modSp mod">
        <pc:chgData name="Sanvi Ojha" userId="be829ea4d4a0fdd8" providerId="LiveId" clId="{CF44F7A8-EED8-47FF-A859-886B402A6D3C}" dt="2026-06-06T02:04:10.328" v="3" actId="1076"/>
        <pc:sldMkLst>
          <pc:docMk/>
          <pc:sldMk cId="0" sldId="257"/>
        </pc:sldMkLst>
        <pc:picChg chg="add mod">
          <ac:chgData name="Sanvi Ojha" userId="be829ea4d4a0fdd8" providerId="LiveId" clId="{CF44F7A8-EED8-47FF-A859-886B402A6D3C}" dt="2026-06-06T02:04:10.328" v="3" actId="1076"/>
          <ac:picMkLst>
            <pc:docMk/>
            <pc:sldMk cId="0" sldId="257"/>
            <ac:picMk id="36" creationId="{BFAA96CE-459C-053F-2B73-26D1343E4AF4}"/>
          </ac:picMkLst>
        </pc:picChg>
      </pc:sldChg>
      <pc:sldChg chg="addSp mod">
        <pc:chgData name="Sanvi Ojha" userId="be829ea4d4a0fdd8" providerId="LiveId" clId="{CF44F7A8-EED8-47FF-A859-886B402A6D3C}" dt="2026-06-06T02:04:17.589" v="4" actId="22"/>
        <pc:sldMkLst>
          <pc:docMk/>
          <pc:sldMk cId="0" sldId="258"/>
        </pc:sldMkLst>
        <pc:picChg chg="add">
          <ac:chgData name="Sanvi Ojha" userId="be829ea4d4a0fdd8" providerId="LiveId" clId="{CF44F7A8-EED8-47FF-A859-886B402A6D3C}" dt="2026-06-06T02:04:17.589" v="4" actId="22"/>
          <ac:picMkLst>
            <pc:docMk/>
            <pc:sldMk cId="0" sldId="258"/>
            <ac:picMk id="14" creationId="{F38697E1-ABDB-2214-D3A4-562EB0AAE6A4}"/>
          </ac:picMkLst>
        </pc:picChg>
      </pc:sldChg>
      <pc:sldChg chg="addSp modSp mod">
        <pc:chgData name="Sanvi Ojha" userId="be829ea4d4a0fdd8" providerId="LiveId" clId="{CF44F7A8-EED8-47FF-A859-886B402A6D3C}" dt="2026-06-06T02:04:26.110" v="6" actId="14100"/>
        <pc:sldMkLst>
          <pc:docMk/>
          <pc:sldMk cId="0" sldId="259"/>
        </pc:sldMkLst>
        <pc:picChg chg="add mod">
          <ac:chgData name="Sanvi Ojha" userId="be829ea4d4a0fdd8" providerId="LiveId" clId="{CF44F7A8-EED8-47FF-A859-886B402A6D3C}" dt="2026-06-06T02:04:26.110" v="6" actId="14100"/>
          <ac:picMkLst>
            <pc:docMk/>
            <pc:sldMk cId="0" sldId="259"/>
            <ac:picMk id="29" creationId="{AF0BB451-BC63-648B-DF68-E239961BFA6F}"/>
          </ac:picMkLst>
        </pc:picChg>
      </pc:sldChg>
      <pc:sldChg chg="addSp modSp mod">
        <pc:chgData name="Sanvi Ojha" userId="be829ea4d4a0fdd8" providerId="LiveId" clId="{CF44F7A8-EED8-47FF-A859-886B402A6D3C}" dt="2026-06-06T02:04:32.847" v="8" actId="14100"/>
        <pc:sldMkLst>
          <pc:docMk/>
          <pc:sldMk cId="0" sldId="260"/>
        </pc:sldMkLst>
        <pc:picChg chg="add mod">
          <ac:chgData name="Sanvi Ojha" userId="be829ea4d4a0fdd8" providerId="LiveId" clId="{CF44F7A8-EED8-47FF-A859-886B402A6D3C}" dt="2026-06-06T02:04:32.847" v="8" actId="14100"/>
          <ac:picMkLst>
            <pc:docMk/>
            <pc:sldMk cId="0" sldId="260"/>
            <ac:picMk id="10" creationId="{F63B9DDF-7A1B-98E6-EBC8-C3F63EC32CC9}"/>
          </ac:picMkLst>
        </pc:picChg>
      </pc:sldChg>
      <pc:sldChg chg="addSp modSp mod">
        <pc:chgData name="Sanvi Ojha" userId="be829ea4d4a0fdd8" providerId="LiveId" clId="{CF44F7A8-EED8-47FF-A859-886B402A6D3C}" dt="2026-06-06T02:04:39.872" v="10" actId="14100"/>
        <pc:sldMkLst>
          <pc:docMk/>
          <pc:sldMk cId="0" sldId="261"/>
        </pc:sldMkLst>
        <pc:picChg chg="add mod">
          <ac:chgData name="Sanvi Ojha" userId="be829ea4d4a0fdd8" providerId="LiveId" clId="{CF44F7A8-EED8-47FF-A859-886B402A6D3C}" dt="2026-06-06T02:04:39.872" v="10" actId="14100"/>
          <ac:picMkLst>
            <pc:docMk/>
            <pc:sldMk cId="0" sldId="261"/>
            <ac:picMk id="7" creationId="{A1AE81F7-01C7-1666-4EF1-1E4CE28D8AB2}"/>
          </ac:picMkLst>
        </pc:picChg>
      </pc:sldChg>
      <pc:sldChg chg="addSp modSp mod">
        <pc:chgData name="Sanvi Ojha" userId="be829ea4d4a0fdd8" providerId="LiveId" clId="{CF44F7A8-EED8-47FF-A859-886B402A6D3C}" dt="2026-06-06T02:04:45.605" v="12" actId="14100"/>
        <pc:sldMkLst>
          <pc:docMk/>
          <pc:sldMk cId="0" sldId="262"/>
        </pc:sldMkLst>
        <pc:picChg chg="add mod">
          <ac:chgData name="Sanvi Ojha" userId="be829ea4d4a0fdd8" providerId="LiveId" clId="{CF44F7A8-EED8-47FF-A859-886B402A6D3C}" dt="2026-06-06T02:04:45.605" v="12" actId="14100"/>
          <ac:picMkLst>
            <pc:docMk/>
            <pc:sldMk cId="0" sldId="262"/>
            <ac:picMk id="12" creationId="{98EC8187-F811-EE12-4169-FDBB5C15443B}"/>
          </ac:picMkLst>
        </pc:picChg>
      </pc:sldChg>
      <pc:sldChg chg="addSp modSp mod">
        <pc:chgData name="Sanvi Ojha" userId="be829ea4d4a0fdd8" providerId="LiveId" clId="{CF44F7A8-EED8-47FF-A859-886B402A6D3C}" dt="2026-06-06T02:04:52.878" v="14" actId="14100"/>
        <pc:sldMkLst>
          <pc:docMk/>
          <pc:sldMk cId="0" sldId="263"/>
        </pc:sldMkLst>
        <pc:picChg chg="add mod">
          <ac:chgData name="Sanvi Ojha" userId="be829ea4d4a0fdd8" providerId="LiveId" clId="{CF44F7A8-EED8-47FF-A859-886B402A6D3C}" dt="2026-06-06T02:04:52.878" v="14" actId="14100"/>
          <ac:picMkLst>
            <pc:docMk/>
            <pc:sldMk cId="0" sldId="263"/>
            <ac:picMk id="12" creationId="{0662095B-ED44-8E80-6B93-51213C93E983}"/>
          </ac:picMkLst>
        </pc:picChg>
      </pc:sldChg>
      <pc:sldChg chg="addSp modSp mod">
        <pc:chgData name="Sanvi Ojha" userId="be829ea4d4a0fdd8" providerId="LiveId" clId="{CF44F7A8-EED8-47FF-A859-886B402A6D3C}" dt="2026-06-06T02:04:58.601" v="16" actId="14100"/>
        <pc:sldMkLst>
          <pc:docMk/>
          <pc:sldMk cId="0" sldId="264"/>
        </pc:sldMkLst>
        <pc:picChg chg="add mod">
          <ac:chgData name="Sanvi Ojha" userId="be829ea4d4a0fdd8" providerId="LiveId" clId="{CF44F7A8-EED8-47FF-A859-886B402A6D3C}" dt="2026-06-06T02:04:58.601" v="16" actId="14100"/>
          <ac:picMkLst>
            <pc:docMk/>
            <pc:sldMk cId="0" sldId="264"/>
            <ac:picMk id="7" creationId="{83EF45F2-7B38-8C2F-0E98-1EEACE47D8F9}"/>
          </ac:picMkLst>
        </pc:picChg>
      </pc:sldChg>
      <pc:sldChg chg="addSp modSp mod">
        <pc:chgData name="Sanvi Ojha" userId="be829ea4d4a0fdd8" providerId="LiveId" clId="{CF44F7A8-EED8-47FF-A859-886B402A6D3C}" dt="2026-06-06T02:05:04.748" v="18" actId="14100"/>
        <pc:sldMkLst>
          <pc:docMk/>
          <pc:sldMk cId="0" sldId="265"/>
        </pc:sldMkLst>
        <pc:picChg chg="add mod">
          <ac:chgData name="Sanvi Ojha" userId="be829ea4d4a0fdd8" providerId="LiveId" clId="{CF44F7A8-EED8-47FF-A859-886B402A6D3C}" dt="2026-06-06T02:05:04.748" v="18" actId="14100"/>
          <ac:picMkLst>
            <pc:docMk/>
            <pc:sldMk cId="0" sldId="265"/>
            <ac:picMk id="19" creationId="{DFF7DA93-73EA-18EF-F56B-11FA69A7DB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21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13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SmartCourier Delivery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99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Microservices-Based Courier Booking &amp; Tracking Platform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948160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3223468"/>
            <a:ext cx="22352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TRAINING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515121" y="3176215"/>
            <a:ext cx="205033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04939" y="3223468"/>
            <a:ext cx="23278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FULL STACK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0908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99521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9610" y="1199257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9610" y="1292051"/>
            <a:ext cx="162713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Background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9610" y="1562546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&amp; motivation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30192" y="99521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0192" y="1199257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0192" y="1292051"/>
            <a:ext cx="16749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&amp; Objectives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30192" y="1562546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set out to solve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610" y="197115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610" y="2175197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610" y="2267992"/>
            <a:ext cx="161195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610" y="2538487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design &amp; 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0192" y="197115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0192" y="2175197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30192" y="226799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0192" y="2538487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Backend, frontend &amp; tools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9610" y="294709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9610" y="3151138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9610" y="324393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9610" y="3514427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 &amp; design patterns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0192" y="294709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30192" y="3151138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0192" y="3243932"/>
            <a:ext cx="16694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RabbitMQ Event Flow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30192" y="3514427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communication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9610" y="392303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9610" y="4127078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610" y="421987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Outcomes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9610" y="4490368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 &amp; metrics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30192" y="392303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30192" y="4127078"/>
            <a:ext cx="4064198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30192" y="4219873"/>
            <a:ext cx="21034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Future Scope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30192" y="4490368"/>
            <a:ext cx="406419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learned &amp; roadmap</a:t>
            </a:r>
            <a:endParaRPr lang="en-US" sz="1000" dirty="0"/>
          </a:p>
        </p:txBody>
      </p:sp>
      <p:pic>
        <p:nvPicPr>
          <p:cNvPr id="36" name="Picture 35" descr="Cardboard boxes">
            <a:extLst>
              <a:ext uri="{FF2B5EF4-FFF2-40B4-BE49-F238E27FC236}">
                <a16:creationId xmlns:a16="http://schemas.microsoft.com/office/drawing/2014/main" id="{BFAA96CE-459C-053F-2B73-26D1343E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85" y="4638403"/>
            <a:ext cx="1500415" cy="5050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4319"/>
            <a:ext cx="77655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Background &amp; Problem Statement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79377"/>
            <a:ext cx="72174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936" y="1726629"/>
            <a:ext cx="99930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0120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Setting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75222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during a structured Java Full Stack training, applying enterprise-grade patterns to a real-world logistics challenge.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18321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project lifecycle: design → build → test → deploy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 sprints with iterative feedback cycles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Industry-aligned coding standards and reviews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1679377"/>
            <a:ext cx="968201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34756" y="1721867"/>
            <a:ext cx="12552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49701" y="200248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SmartCourier?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36569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courier systems rely on monolithic architectures — slow to scale, hard to maintain, and unable to handle real-time tracking demands.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173685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centralized shipment visibility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pricing with no dynamic rules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fault isolation in monolithic designs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 bottlenecks under high load</a:t>
            </a:r>
            <a:endParaRPr lang="en-US" sz="1100" dirty="0"/>
          </a:p>
        </p:txBody>
      </p:sp>
      <p:pic>
        <p:nvPicPr>
          <p:cNvPr id="14" name="Picture 13" descr="Cardboard boxes">
            <a:extLst>
              <a:ext uri="{FF2B5EF4-FFF2-40B4-BE49-F238E27FC236}">
                <a16:creationId xmlns:a16="http://schemas.microsoft.com/office/drawing/2014/main" id="{F38697E1-ABDB-2214-D3A4-562EB0AAE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85" y="4638403"/>
            <a:ext cx="1500415" cy="5050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2640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39392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4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Access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JWT-based authentication with role-based access for customers and administrators.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07122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39392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184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Courier Booking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booking with dynamic pricing using the Strategy Design Pattern.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171605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139392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184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Tracking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shipment status updates delivered via event-driven RabbitMQ messaging.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2640" y="326581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640" y="38328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640" y="413935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management, delivery monitoring, and operational reporting in one view.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89363" y="326581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9363" y="3832845"/>
            <a:ext cx="18663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Architecture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9363" y="413935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microservices, each with its own database, enabling isolated scaling.</a:t>
            </a:r>
            <a:endParaRPr lang="en-US" sz="1100" dirty="0"/>
          </a:p>
        </p:txBody>
      </p:sp>
      <p:pic>
        <p:nvPicPr>
          <p:cNvPr id="29" name="Picture 28" descr="Cardboard boxes">
            <a:extLst>
              <a:ext uri="{FF2B5EF4-FFF2-40B4-BE49-F238E27FC236}">
                <a16:creationId xmlns:a16="http://schemas.microsoft.com/office/drawing/2014/main" id="{AF0BB451-BC63-648B-DF68-E239961BFA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3585" y="4824562"/>
            <a:ext cx="1500415" cy="3189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9923"/>
            <a:ext cx="440970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Methodology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915516"/>
            <a:ext cx="8253487" cy="3421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0045" y="3304347"/>
            <a:ext cx="1848451" cy="231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61489" y="3304347"/>
            <a:ext cx="1848451" cy="231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35427" y="1727003"/>
            <a:ext cx="1848451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60045" y="1735218"/>
            <a:ext cx="1848451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5219" y="4450854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followed an Agile iterative model — each sprint delivered a working increment, enabling continuous integration, early bug detection, and stakeholder-aligned feature prioritization throughout the training.</a:t>
            </a:r>
            <a:endParaRPr lang="en-US" sz="900" dirty="0"/>
          </a:p>
        </p:txBody>
      </p:sp>
      <p:pic>
        <p:nvPicPr>
          <p:cNvPr id="10" name="Picture 9" descr="Cardboard boxes">
            <a:extLst>
              <a:ext uri="{FF2B5EF4-FFF2-40B4-BE49-F238E27FC236}">
                <a16:creationId xmlns:a16="http://schemas.microsoft.com/office/drawing/2014/main" id="{F63B9DDF-7A1B-98E6-EBC8-C3F63EC32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85" y="4803577"/>
            <a:ext cx="1500415" cy="339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23924"/>
            <a:ext cx="290274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804267"/>
            <a:ext cx="3939927" cy="3939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1820" y="1838399"/>
            <a:ext cx="18571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Architectural Principles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91820" y="2057623"/>
            <a:ext cx="2547342" cy="1695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Single entry point; routes requests to downstream services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Eureka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Dynamic service discovery and health registration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Server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Centralized, version-controlled configuration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OpenFeign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Declarative REST clients for inter-service calls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RabbitMQ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Async messaging decouples Delivery and Tracking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Per-service DB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Full data isolation and independent scaling</a:t>
            </a:r>
            <a:endParaRPr lang="en-US" sz="750" dirty="0"/>
          </a:p>
        </p:txBody>
      </p:sp>
      <p:pic>
        <p:nvPicPr>
          <p:cNvPr id="7" name="Picture 6" descr="Cardboard boxes">
            <a:extLst>
              <a:ext uri="{FF2B5EF4-FFF2-40B4-BE49-F238E27FC236}">
                <a16:creationId xmlns:a16="http://schemas.microsoft.com/office/drawing/2014/main" id="{A1AE81F7-01C7-1666-4EF1-1E4CE28D8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85" y="4804348"/>
            <a:ext cx="1500415" cy="3391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14276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79" y="1310878"/>
            <a:ext cx="701948" cy="260821"/>
          </a:xfrm>
          <a:prstGeom prst="roundRect">
            <a:avLst>
              <a:gd name="adj" fmla="val 1797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2095" y="1352699"/>
            <a:ext cx="99171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88379" y="1626617"/>
            <a:ext cx="276396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17 · Spring Ecosystem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8379" y="1982019"/>
            <a:ext cx="3913436" cy="2599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Service scaffolding &amp; auto-configuration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Cloud Gateway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API routing &amp; filtering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Eureka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Service discovery &amp; registration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Server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Externalized configuration management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OpenFeign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Declarative inter-service HTTP clients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RabbitMQ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Asynchronous message broker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Relational database per service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Unit &amp; integration testing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Zipkin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Distributed tracing &amp; latency monitoring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6947" y="1310878"/>
            <a:ext cx="787971" cy="270346"/>
          </a:xfrm>
          <a:prstGeom prst="roundRect">
            <a:avLst>
              <a:gd name="adj" fmla="val 17344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35426" y="1357461"/>
            <a:ext cx="106821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46947" y="1636142"/>
            <a:ext cx="240476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React.js · Security · UX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6947" y="1991544"/>
            <a:ext cx="3913436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Component-based responsive UI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Client-side navigation &amp; routing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HTTP client for REST API calls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Stateless token-based authentication</a:t>
            </a:r>
            <a:endParaRPr lang="en-US" sz="1050" dirty="0"/>
          </a:p>
        </p:txBody>
      </p:sp>
      <p:pic>
        <p:nvPicPr>
          <p:cNvPr id="12" name="Picture 11" descr="Cardboard boxes">
            <a:extLst>
              <a:ext uri="{FF2B5EF4-FFF2-40B4-BE49-F238E27FC236}">
                <a16:creationId xmlns:a16="http://schemas.microsoft.com/office/drawing/2014/main" id="{98EC8187-F811-EE12-4169-FDBB5C15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85" y="4714407"/>
            <a:ext cx="1500415" cy="429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939"/>
            <a:ext cx="6832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Implementation: Backend &amp; Frontend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06997"/>
            <a:ext cx="712812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1174" y="1849487"/>
            <a:ext cx="9999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130103"/>
            <a:ext cx="27472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Boot Microservices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93318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APIs with layered service architecture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Data JPA for MySQL persistence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Pattern for dynamic courier pricing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RabbitMQ publishers &amp; consumers for async events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OpenFeign clients for synchronous service calls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 test suites with mocked dependencies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1806997"/>
            <a:ext cx="80002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39519" y="1854250"/>
            <a:ext cx="107759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49701" y="2139628"/>
            <a:ext cx="32879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React.js Single-Page Application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502843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API for global state &amp; auth token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routes enforced via JWT expiry checks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 interceptors for automatic token injection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 with modular component structure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UI updates on RabbitMQ-driven status changes</a:t>
            </a:r>
            <a:endParaRPr lang="en-US" sz="1100" dirty="0"/>
          </a:p>
        </p:txBody>
      </p:sp>
      <p:pic>
        <p:nvPicPr>
          <p:cNvPr id="12" name="Picture 11" descr="Cardboard boxes">
            <a:extLst>
              <a:ext uri="{FF2B5EF4-FFF2-40B4-BE49-F238E27FC236}">
                <a16:creationId xmlns:a16="http://schemas.microsoft.com/office/drawing/2014/main" id="{0662095B-ED44-8E80-6B93-51213C93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85" y="4819338"/>
            <a:ext cx="1500415" cy="3241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64817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 &amp; RabbitMQ Event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339727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606204"/>
            <a:ext cx="3759622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Registration &amp; Login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Secure JWT token issuance on auth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Courier Booking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Dynamic pricing via Strategy Pattern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 Tracking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Real-time status from Tracking Service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Hub management &amp; delivery reports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7" name="Picture 6" descr="Cardboard boxes">
            <a:extLst>
              <a:ext uri="{FF2B5EF4-FFF2-40B4-BE49-F238E27FC236}">
                <a16:creationId xmlns:a16="http://schemas.microsoft.com/office/drawing/2014/main" id="{83EF45F2-7B38-8C2F-0E98-1EEACE47D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85" y="4789357"/>
            <a:ext cx="1500415" cy="3541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78247"/>
            <a:ext cx="619273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Results, Challenges &amp; Future Scope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162" y="1042690"/>
            <a:ext cx="2654796" cy="273985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2788" y="1162273"/>
            <a:ext cx="159469" cy="1594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2353" y="15743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Outcomes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12353" y="1856705"/>
            <a:ext cx="2360414" cy="1778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independently deployable microservices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CRUD operations across all domains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status updates via RabbitMQ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Zero-downtime service discovery with Eureka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4528" y="1042690"/>
            <a:ext cx="2654871" cy="273985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2154" y="1162273"/>
            <a:ext cx="159469" cy="15946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391719" y="1574304"/>
            <a:ext cx="186541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3391719" y="1856705"/>
            <a:ext cx="236048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discovery latency → Eureka heartbeat tuning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tracing gaps → Zipkin integration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expiry handling → Axios refresh interceptors</a:t>
            </a:r>
            <a:endParaRPr lang="en-US" sz="1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967" y="1042690"/>
            <a:ext cx="2654871" cy="273985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593" y="1162273"/>
            <a:ext cx="159469" cy="159469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71158" y="15743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4" name="Text 6"/>
          <p:cNvSpPr/>
          <p:nvPr/>
        </p:nvSpPr>
        <p:spPr>
          <a:xfrm>
            <a:off x="6171158" y="1856705"/>
            <a:ext cx="2360488" cy="1572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GPS tracking with WebSocket streams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ML-based delivery time prediction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(React Native) for customers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orchestration for cloud deployment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65162" y="3922663"/>
            <a:ext cx="8213675" cy="702469"/>
          </a:xfrm>
          <a:prstGeom prst="roundRect">
            <a:avLst>
              <a:gd name="adj" fmla="val 7946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66" y="4110558"/>
            <a:ext cx="166092" cy="13290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97062" y="4067919"/>
            <a:ext cx="7648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SmartCourier demonstrates mastery of microservices architecture, event-driven design, and full-stack Java development — a production-grade foundation for modern distributed systems.</a:t>
            </a:r>
            <a:endParaRPr lang="en-US" sz="1000" dirty="0"/>
          </a:p>
        </p:txBody>
      </p:sp>
      <p:pic>
        <p:nvPicPr>
          <p:cNvPr id="19" name="Picture 18" descr="Cardboard boxes">
            <a:extLst>
              <a:ext uri="{FF2B5EF4-FFF2-40B4-BE49-F238E27FC236}">
                <a16:creationId xmlns:a16="http://schemas.microsoft.com/office/drawing/2014/main" id="{DFF7DA93-73EA-18EF-F56B-11FA69A7D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3585" y="4638403"/>
            <a:ext cx="1500415" cy="5050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678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Sanvi Ojha</cp:lastModifiedBy>
  <cp:revision>1</cp:revision>
  <dcterms:created xsi:type="dcterms:W3CDTF">2026-06-05T17:14:36Z</dcterms:created>
  <dcterms:modified xsi:type="dcterms:W3CDTF">2026-06-06T02:05:05Z</dcterms:modified>
</cp:coreProperties>
</file>